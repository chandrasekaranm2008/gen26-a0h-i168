
<file path=[Content_Types].xml><?xml version="1.0" encoding="utf-8"?>
<Types xmlns="http://schemas.openxmlformats.org/package/2006/content-types">
  <Default Extension="xml" ContentType="application/vnd.openxmlformats-officedocument.presentationml.presentation.main+xml"/>
  <Default Extension="png" ContentType="image/png"/>
  <Default Extension="rels" ContentType="application/vnd.openxmlformats-package.relationships+xml"/>
  <Override PartName="/ppt/notesMasters/notesMaster1.xml" ContentType="application/vnd.openxmlformats-officedocument.presentationml.notesMaster+xml"/>
  <Override PartName="/ppt/notesMasters/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officeDocument/2006/relationships/officeDocument" Target="/ppt/presentation.xml" Id="Rcfaccb8688b34693" /><Relationship Type="http://schemas.openxmlformats.org/package/2006/relationships/metadata/core-properties" Target="/docProps/core.xml" Id="R0a518cd0b98e4132" /><Relationship Type="http://schemas.openxmlformats.org/officeDocument/2006/relationships/extended-properties" Target="/docProps/app.xml" Id="Rc6a8ca20fb934d0f"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6180a19da7c84f0c"/>
  </p:sldMasterIdLst>
  <p:notesMasterIdLst>
    <p:notesMasterId r:id="R8b7cbfbfe1a24e9f"/>
  </p:notesMasterIdLst>
  <p:sldIdLst>
    <p:sldId id="256" r:id="Rca5fdd91eeeb4116"/>
    <p:sldId id="257" r:id="R067fb1e345b04b16"/>
    <p:sldId id="258" r:id="R8822f819e25241bd"/>
    <p:sldId id="259" r:id="R2e4fa40bd121461c"/>
    <p:sldId id="260" r:id="Rb005872a543841e0"/>
    <p:sldId id="261" r:id="R1dca5b1f901a4fa0"/>
    <p:sldId id="262" r:id="Rf30e4c6a5b374597"/>
    <p:sldId id="263" r:id="R59fb1c9747d14a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30" y="72"/>
      </p:cViewPr>
      <p:guideLst/>
    </p:cSldViewPr>
  </p:slid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notesMaster" Target="/ppt/notesMasters/notesMaster1.xml" Id="R8b7cbfbfe1a24e9f" /><Relationship Type="http://schemas.openxmlformats.org/officeDocument/2006/relationships/presProps" Target="/ppt/presProps.xml" Id="R98da35e995714f43" /><Relationship Type="http://schemas.openxmlformats.org/officeDocument/2006/relationships/viewProps" Target="/ppt/viewProps.xml" Id="R54d25f6435904fbe" /><Relationship Type="http://schemas.openxmlformats.org/officeDocument/2006/relationships/slideMaster" Target="/ppt/slideMasters/slideMaster1.xml" Id="R6180a19da7c84f0c" /><Relationship Type="http://schemas.openxmlformats.org/officeDocument/2006/relationships/theme" Target="/ppt/slideMasters/theme/theme2.xml" Id="R342ea8a6d2a74aea" /><Relationship Type="http://schemas.openxmlformats.org/officeDocument/2006/relationships/slide" Target="/ppt/slides/slide1.xml" Id="Rca5fdd91eeeb4116" /><Relationship Type="http://schemas.openxmlformats.org/officeDocument/2006/relationships/slide" Target="/ppt/slides/slide2.xml" Id="R067fb1e345b04b16" /><Relationship Type="http://schemas.openxmlformats.org/officeDocument/2006/relationships/slide" Target="/ppt/slides/slide3.xml" Id="R8822f819e25241bd" /><Relationship Type="http://schemas.openxmlformats.org/officeDocument/2006/relationships/slide" Target="/ppt/slides/slide4.xml" Id="R2e4fa40bd121461c" /><Relationship Type="http://schemas.openxmlformats.org/officeDocument/2006/relationships/slide" Target="/ppt/slides/slide5.xml" Id="Rb005872a543841e0" /><Relationship Type="http://schemas.openxmlformats.org/officeDocument/2006/relationships/slide" Target="/ppt/slides/slide6.xml" Id="R1dca5b1f901a4fa0" /><Relationship Type="http://schemas.openxmlformats.org/officeDocument/2006/relationships/slide" Target="/ppt/slides/slide7.xml" Id="Rf30e4c6a5b374597" /><Relationship Type="http://schemas.openxmlformats.org/officeDocument/2006/relationships/slide" Target="/ppt/slides/slide8.xml" Id="R59fb1c9747d14a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1.xml" Id="Rdedce5cbad254146"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1398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notesSlides/_rels/notesSlide1.xml.rels>&#65279;<?xml version="1.0" encoding="utf-8"?><Relationships xmlns="http://schemas.openxmlformats.org/package/2006/relationships"><Relationship Type="http://schemas.openxmlformats.org/officeDocument/2006/relationships/slide" Target="/ppt/slides/slide1.xml" Id="R1540543a45634afe" /><Relationship Type="http://schemas.openxmlformats.org/officeDocument/2006/relationships/notesMaster" Target="/ppt/notesMasters/notesMaster1.xml" Id="Rc15ea76991a24f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2806be813b49eb" /><Relationship Type="http://schemas.openxmlformats.org/officeDocument/2006/relationships/notesMaster" Target="/ppt/notesMasters/notesMaster1.xml" Id="R6f04fe78dc3d43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ba982a223f451b" /><Relationship Type="http://schemas.openxmlformats.org/officeDocument/2006/relationships/notesMaster" Target="/ppt/notesMasters/notesMaster1.xml" Id="R15184e20d0e041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0a915f210948d7" /><Relationship Type="http://schemas.openxmlformats.org/officeDocument/2006/relationships/notesMaster" Target="/ppt/notesMasters/notesMaster1.xml" Id="R934c63c7904444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9df4ccd58d421c" /><Relationship Type="http://schemas.openxmlformats.org/officeDocument/2006/relationships/notesMaster" Target="/ppt/notesMasters/notesMaster1.xml" Id="Rb77de8a78d7a49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3d716e16b845ea" /><Relationship Type="http://schemas.openxmlformats.org/officeDocument/2006/relationships/notesMaster" Target="/ppt/notesMasters/notesMaster1.xml" Id="R37e3b9f9394c42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f817d6e6350494f" /><Relationship Type="http://schemas.openxmlformats.org/officeDocument/2006/relationships/notesMaster" Target="/ppt/notesMasters/notesMaster1.xml" Id="R8212f30607be4d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7db3b7f4714d2f" /><Relationship Type="http://schemas.openxmlformats.org/officeDocument/2006/relationships/notesMaster" Target="/ppt/notesMasters/notesMaster1.xml" Id="Ra786377ca49741de"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d01a0e6b4b4f72" /><Relationship Type="http://schemas.openxmlformats.org/officeDocument/2006/relationships/image" Target="/ppt/media/image.png" Id="Reeeab911dc5b4c8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116f5ba43534084"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eeeab911dc5b4c85"/>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455e51836945d2" /><Relationship Type="http://schemas.openxmlformats.org/officeDocument/2006/relationships/slideLayout" Target="/ppt/slideLayouts/slideLayout1.xml" Id="R31bef0bd087f49ec" /><Relationship Type="http://schemas.openxmlformats.org/officeDocument/2006/relationships/slideLayout" Target="/ppt/slideLayouts/slideLayout2.xml" Id="Rdbae220bcb044cd9" /></Relationships>
</file>

<file path=ppt/slideMasters/slideMaster1.xml><?xml version="1.0" encoding="utf-8"?>
<p:sldMaster xmlns:ma14="http://schemas.microsoft.com/office/mac/drawingml/2011/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31bef0bd087f49ec"/>
    <p:sldLayoutId id="2147483650" r:id="Rdbae220bcb044c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theme2.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image" Target="/ppt/media/image.png" Id="Rf7cc558366914084" /><Relationship Type="http://schemas.openxmlformats.org/officeDocument/2006/relationships/notesSlide" Target="/ppt/notesSlides/notesSlide1.xml" Id="Rb8da3d0a948d4b3e" /><Relationship Type="http://schemas.openxmlformats.org/officeDocument/2006/relationships/slideLayout" Target="/ppt/slideLayouts/slideLayout2.xml" Id="R51eb8f0904b948c9" /></Relationships>
</file>

<file path=ppt/slides/_rels/slide2.xml.rels>&#65279;<?xml version="1.0" encoding="utf-8"?><Relationships xmlns="http://schemas.openxmlformats.org/package/2006/relationships"><Relationship Type="http://schemas.openxmlformats.org/officeDocument/2006/relationships/image" Target="/ppt/media/image2.png" Id="Rd8aa5b65fd224e25" /><Relationship Type="http://schemas.openxmlformats.org/officeDocument/2006/relationships/image" Target="/ppt/media/image3.png" Id="Rc7f2309087a4490a" /><Relationship Type="http://schemas.openxmlformats.org/officeDocument/2006/relationships/notesSlide" Target="/ppt/notesSlides/notesSlide2.xml" Id="R04bf22c94c3d440f" /><Relationship Type="http://schemas.openxmlformats.org/officeDocument/2006/relationships/slideLayout" Target="/ppt/slideLayouts/slideLayout1.xml" Id="R662f23b4ea6243a4" /></Relationships>
</file>

<file path=ppt/slides/_rels/slide3.xml.rels>&#65279;<?xml version="1.0" encoding="utf-8"?><Relationships xmlns="http://schemas.openxmlformats.org/package/2006/relationships"><Relationship Type="http://schemas.openxmlformats.org/officeDocument/2006/relationships/image" Target="/ppt/media/image2.png" Id="R321988f0821e40db" /><Relationship Type="http://schemas.openxmlformats.org/officeDocument/2006/relationships/image" Target="/ppt/media/image3.png" Id="Raec7789bb77d4eb8" /><Relationship Type="http://schemas.openxmlformats.org/officeDocument/2006/relationships/notesSlide" Target="/ppt/notesSlides/notesSlide3.xml" Id="R2d6c9cb665a74533" /><Relationship Type="http://schemas.openxmlformats.org/officeDocument/2006/relationships/slideLayout" Target="/ppt/slideLayouts/slideLayout1.xml" Id="R742145159a054531" /></Relationships>
</file>

<file path=ppt/slides/_rels/slide4.xml.rels>&#65279;<?xml version="1.0" encoding="utf-8"?><Relationships xmlns="http://schemas.openxmlformats.org/package/2006/relationships"><Relationship Type="http://schemas.openxmlformats.org/officeDocument/2006/relationships/image" Target="/ppt/media/image2.png" Id="Re2f74ac7dc3247a9" /><Relationship Type="http://schemas.openxmlformats.org/officeDocument/2006/relationships/image" Target="/ppt/media/image3.png" Id="R75376d4b20fc41d8" /><Relationship Type="http://schemas.openxmlformats.org/officeDocument/2006/relationships/notesSlide" Target="/ppt/notesSlides/notesSlide4.xml" Id="R610d3cbb881041a6" /><Relationship Type="http://schemas.openxmlformats.org/officeDocument/2006/relationships/slideLayout" Target="/ppt/slideLayouts/slideLayout1.xml" Id="Ref3ca9ab92f44903" /></Relationships>
</file>

<file path=ppt/slides/_rels/slide5.xml.rels>&#65279;<?xml version="1.0" encoding="utf-8"?><Relationships xmlns="http://schemas.openxmlformats.org/package/2006/relationships"><Relationship Type="http://schemas.openxmlformats.org/officeDocument/2006/relationships/image" Target="/ppt/media/image2.png" Id="Ra3bc463551c147af" /><Relationship Type="http://schemas.openxmlformats.org/officeDocument/2006/relationships/image" Target="/ppt/media/image3.png" Id="R047eff54f4f8424d" /><Relationship Type="http://schemas.openxmlformats.org/officeDocument/2006/relationships/notesSlide" Target="/ppt/notesSlides/notesSlide5.xml" Id="R8d8ddc8bb5784ca5" /><Relationship Type="http://schemas.openxmlformats.org/officeDocument/2006/relationships/slideLayout" Target="/ppt/slideLayouts/slideLayout1.xml" Id="Ra3a68e3a194f44b0" /></Relationships>
</file>

<file path=ppt/slides/_rels/slide6.xml.rels>&#65279;<?xml version="1.0" encoding="utf-8"?><Relationships xmlns="http://schemas.openxmlformats.org/package/2006/relationships"><Relationship Type="http://schemas.openxmlformats.org/officeDocument/2006/relationships/image" Target="/ppt/media/image2.png" Id="Rcd027e792c6d4719" /><Relationship Type="http://schemas.openxmlformats.org/officeDocument/2006/relationships/image" Target="/ppt/media/image3.png" Id="R219896dd94584bd9" /><Relationship Type="http://schemas.openxmlformats.org/officeDocument/2006/relationships/notesSlide" Target="/ppt/notesSlides/notesSlide6.xml" Id="R512ea30183d54e59" /><Relationship Type="http://schemas.openxmlformats.org/officeDocument/2006/relationships/slideLayout" Target="/ppt/slideLayouts/slideLayout1.xml" Id="R6d1940351acb4a8a" /></Relationships>
</file>

<file path=ppt/slides/_rels/slide7.xml.rels>&#65279;<?xml version="1.0" encoding="utf-8"?><Relationships xmlns="http://schemas.openxmlformats.org/package/2006/relationships"><Relationship Type="http://schemas.openxmlformats.org/officeDocument/2006/relationships/image" Target="/ppt/media/image2.png" Id="Re1a07071dde84100" /><Relationship Type="http://schemas.openxmlformats.org/officeDocument/2006/relationships/image" Target="/ppt/media/image3.png" Id="R2847d76196014686" /><Relationship Type="http://schemas.openxmlformats.org/officeDocument/2006/relationships/notesSlide" Target="/ppt/notesSlides/notesSlide7.xml" Id="Rc2a5754977d2480d" /><Relationship Type="http://schemas.openxmlformats.org/officeDocument/2006/relationships/slideLayout" Target="/ppt/slideLayouts/slideLayout1.xml" Id="R0b3724500c014c6b" /></Relationships>
</file>

<file path=ppt/slides/_rels/slide8.xml.rels>&#65279;<?xml version="1.0" encoding="utf-8"?><Relationships xmlns="http://schemas.openxmlformats.org/package/2006/relationships"><Relationship Type="http://schemas.openxmlformats.org/officeDocument/2006/relationships/image" Target="/ppt/media/image2.png" Id="Rf84ed7eb8d9a4227" /><Relationship Type="http://schemas.openxmlformats.org/officeDocument/2006/relationships/image" Target="/ppt/media/image3.png" Id="R707cea3a3c224da1" /><Relationship Type="http://schemas.openxmlformats.org/officeDocument/2006/relationships/notesSlide" Target="/ppt/notesSlides/notesSlide8.xml" Id="Re65ed98f811b4147" /><Relationship Type="http://schemas.openxmlformats.org/officeDocument/2006/relationships/slideLayout" Target="/ppt/slideLayouts/slideLayout1.xml" Id="Rd585d442ff374fe3"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f7cc558366914084"/>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548640" y="3108960"/>
            <a:ext cx="5669280" cy="365760"/>
          </a:xfrm>
          <a:prstGeom prst="rect">
            <a:avLst/>
          </a:prstGeom>
          <a:noFill/>
          <a:ln/>
        </p:spPr>
        <p:txBody>
          <a:bodyPr wrap="square" lIns="0" tIns="0" rIns="0" bIns="0" rtlCol="0" anchor="ctr"/>
          <a:lstStyle/>
          <a:p>
            <a:pPr marL="0" indent="0">
              <a:buNone/>
            </a:pPr>
            <a:r>
              <a:rPr lang="en-US" sz="1600" i="1" dirty="0">
                <a:solidFill>
                  <a:schemeClr val="accent6"/>
                </a:solidFill>
              </a:rPr>
              <a:t>Introduce your team and the domain you have chosen</a:t>
            </a:r>
            <a:endParaRPr lang="en-US" sz="1600" dirty="0"/>
          </a:p>
        </p:txBody>
      </p:sp>
      <p:sp>
        <p:nvSpPr>
          <p:cNvPr id="15" name="Cover Fields"/>
          <p:cNvSpPr txBox="1"/>
          <p:nvPr/>
        </p:nvSpPr>
        <p:spPr>
          <a:xfrm>
            <a:off x="548640" y="3703320"/>
            <a:ext cx="6035040" cy="2560320"/>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 Mavericks</a:t>
            </a:r>
            <a:endParaRPr lang="en-US" sz="1800" dirty="0"/>
          </a:p>
          <a:p>
            <a:pPr marL="279400" indent="-279400">
              <a:spcAft>
                <a:spcPts val="1400"/>
              </a:spcAft>
              <a:buClr>
                <a:schemeClr val="accent3"/>
              </a:buClr>
              <a:buSzPct val="100000"/>
              <a:buChar char="•"/>
            </a:pPr>
            <a:r>
              <a:rPr lang="en-US" sz="1800" dirty="0">
                <a:solidFill>
                  <a:schemeClr val="bg1"/>
                </a:solidFill>
              </a:rPr>
              <a:t>Team Members – Jaiya Anish S(CB.SC.U4CSE26721), </a:t>
            </a:r>
            <a:r>
              <a:rPr lang="en-US" sz="1800" dirty="0" err="1">
                <a:solidFill>
                  <a:schemeClr val="bg1"/>
                </a:solidFill>
              </a:rPr>
              <a:t>Jeyendra</a:t>
            </a:r>
            <a:r>
              <a:rPr lang="en-US" sz="1800" dirty="0">
                <a:solidFill>
                  <a:schemeClr val="bg1"/>
                </a:solidFill>
              </a:rPr>
              <a:t> </a:t>
            </a:r>
            <a:r>
              <a:rPr lang="en-US" sz="1800" dirty="0" err="1">
                <a:solidFill>
                  <a:schemeClr val="bg1"/>
                </a:solidFill>
              </a:rPr>
              <a:t>Viswanadh</a:t>
            </a:r>
            <a:r>
              <a:rPr lang="en-US" sz="1800" dirty="0">
                <a:solidFill>
                  <a:schemeClr val="bg1"/>
                </a:solidFill>
              </a:rPr>
              <a:t> Kancherla</a:t>
            </a:r>
            <a:r>
              <a:rPr lang="en-US" dirty="0">
                <a:solidFill>
                  <a:schemeClr val="bg1"/>
                </a:solidFill>
              </a:rPr>
              <a:t>(CB.SC.U4CSE26723)</a:t>
            </a:r>
            <a:r>
              <a:rPr lang="en-US" sz="1800" dirty="0">
                <a:solidFill>
                  <a:schemeClr val="bg1"/>
                </a:solidFill>
              </a:rPr>
              <a:t>, M Chandrasekaran</a:t>
            </a:r>
            <a:r>
              <a:rPr lang="en-US" dirty="0">
                <a:solidFill>
                  <a:schemeClr val="bg1"/>
                </a:solidFill>
              </a:rPr>
              <a:t>(CB.SC.U4CSE26729)</a:t>
            </a:r>
            <a:r>
              <a:rPr lang="en-US" sz="1800" dirty="0">
                <a:solidFill>
                  <a:schemeClr val="bg1"/>
                </a:solidFill>
              </a:rPr>
              <a:t>, Sanjeevi V Vaidyanathan</a:t>
            </a:r>
            <a:r>
              <a:rPr lang="en-US" dirty="0">
                <a:solidFill>
                  <a:schemeClr val="bg1"/>
                </a:solidFill>
              </a:rPr>
              <a:t>(CB.SC.U4CSE26752)</a:t>
            </a:r>
            <a:endParaRPr lang="en-US" sz="1800" dirty="0"/>
          </a:p>
          <a:p>
            <a:pPr marL="279400" indent="-279400">
              <a:spcAft>
                <a:spcPts val="1400"/>
              </a:spcAft>
              <a:buClr>
                <a:schemeClr val="accent3"/>
              </a:buClr>
              <a:buSzPct val="100000"/>
              <a:buChar char="•"/>
            </a:pPr>
            <a:r>
              <a:rPr lang="en-US" sz="1800" dirty="0">
                <a:solidFill>
                  <a:schemeClr val="bg1"/>
                </a:solidFill>
              </a:rPr>
              <a:t>Selected Domain –</a:t>
            </a:r>
            <a:r>
              <a:rPr lang="en-US" dirty="0">
                <a:solidFill>
                  <a:schemeClr val="bg1"/>
                </a:solidFill>
              </a:rPr>
              <a:t> 1</a:t>
            </a:r>
            <a:endParaRPr lang="en-US" sz="1800" dirty="0"/>
          </a:p>
          <a:p>
            <a:pPr marL="279400" indent="-279400">
              <a:spcAft>
                <a:spcPts val="1400"/>
              </a:spcAft>
              <a:buClr>
                <a:schemeClr val="accent3"/>
              </a:buClr>
              <a:buSzPct val="100000"/>
              <a:buChar char="•"/>
            </a:pPr>
            <a:r>
              <a:rPr lang="en-US" sz="1800" dirty="0">
                <a:solidFill>
                  <a:schemeClr val="bg1"/>
                </a:solidFill>
              </a:rPr>
              <a:t>Problem Statement –  </a:t>
            </a:r>
            <a:r>
              <a:rPr lang="en-US" dirty="0">
                <a:solidFill>
                  <a:schemeClr val="bg1"/>
                </a:solidFill>
              </a:rPr>
              <a:t>Automating the Modern Hiring Process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d8aa5b65fd224e25"/>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Mavericks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c7f2309087a4490a"/>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Explain the problem in your domain simply, in your own words</a:t>
            </a:r>
            <a:endParaRPr lang="en-US" sz="1800" dirty="0"/>
          </a:p>
        </p:txBody>
      </p:sp>
      <p:sp>
        <p:nvSpPr>
          <p:cNvPr id="10" name="Prompts"/>
          <p:cNvSpPr txBox="1"/>
          <p:nvPr/>
        </p:nvSpPr>
        <p:spPr>
          <a:xfrm>
            <a:off x="868680" y="2148840"/>
            <a:ext cx="10424160" cy="11887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What exactly needs to be solved?</a:t>
            </a:r>
          </a:p>
          <a:p>
            <a:pPr>
              <a:spcAft>
                <a:spcPts val="1000"/>
              </a:spcAft>
              <a:buClr>
                <a:schemeClr val="accent1"/>
              </a:buClr>
              <a:buSzPct val="100000"/>
            </a:pPr>
            <a:r>
              <a:rPr lang="en-US" sz="1600" dirty="0"/>
              <a:t>Manual Admin Overload: The recruiters manually enter the information about the applicants in the candidate management system. It includes their name, email, portfolio, and other data related to the application.</a:t>
            </a:r>
          </a:p>
          <a:p>
            <a:pPr>
              <a:spcAft>
                <a:spcPts val="1000"/>
              </a:spcAft>
              <a:buClr>
                <a:schemeClr val="accent1"/>
              </a:buClr>
              <a:buSzPct val="100000"/>
            </a:pPr>
            <a:r>
              <a:rPr lang="en-US" sz="1600" dirty="0"/>
              <a:t>Slow Hiring Process: The modern hiring process involves completing the practical test or the trial task before the interview takes place. Recruiters have to manually send these tasks to the candidates, check whether they completed them, follow up and change the status accordingly.</a:t>
            </a:r>
          </a:p>
          <a:p>
            <a:pPr marL="279400" indent="-279400">
              <a:spcAft>
                <a:spcPts val="1000"/>
              </a:spcAft>
              <a:buClr>
                <a:schemeClr val="accent1"/>
              </a:buClr>
              <a:buSzPct val="100000"/>
              <a:buChar char="•"/>
            </a:pPr>
            <a:r>
              <a:rPr lang="en-US" sz="1800" dirty="0">
                <a:solidFill>
                  <a:schemeClr val="tx1"/>
                </a:solidFill>
              </a:rPr>
              <a:t>Why is it important right now?</a:t>
            </a:r>
          </a:p>
          <a:p>
            <a:pPr>
              <a:spcAft>
                <a:spcPts val="1000"/>
              </a:spcAft>
              <a:buClr>
                <a:schemeClr val="accent1"/>
              </a:buClr>
              <a:buSzPct val="100000"/>
            </a:pPr>
            <a:r>
              <a:rPr lang="en-US" sz="1600" dirty="0"/>
              <a:t>Practical Assignments Are Becoming More Popular: There is an increasing tendency in the companies to ask the candidates to complete the assignments or the projects before inviting them to the interview stage.</a:t>
            </a:r>
          </a:p>
          <a:p>
            <a:pPr>
              <a:spcAft>
                <a:spcPts val="1000"/>
              </a:spcAft>
              <a:buClr>
                <a:schemeClr val="accent1"/>
              </a:buClr>
              <a:buSzPct val="100000"/>
            </a:pPr>
            <a:r>
              <a:rPr lang="en-US" sz="1600" dirty="0"/>
              <a:t>Large Number of Applicants: Remote hiring leads to the large number of applicants for one job opening. It creates a burden for the HR specialists and the recruiters.</a:t>
            </a:r>
          </a:p>
          <a:p>
            <a:pPr>
              <a:spcAft>
                <a:spcPts val="1000"/>
              </a:spcAft>
              <a:buClr>
                <a:schemeClr val="accent1"/>
              </a:buClr>
              <a:buSzPct val="100000"/>
            </a:pPr>
            <a:r>
              <a:rPr lang="en-US" sz="1600" dirty="0"/>
              <a:t>Speed Is Critical: The speed of the hiring process matters greatly for the recruiting agencies. The automatic performing of actions depending on the candidate’s status, such as sending the trial assignment to the candidates marked “Reviewed”, helps to save the time.</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321988f0821e40db"/>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Mavericks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aec7789bb77d4eb8"/>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Primary users / target group:</a:t>
            </a:r>
          </a:p>
          <a:p>
            <a:pPr>
              <a:buClr>
                <a:schemeClr val="accent1"/>
              </a:buClr>
              <a:buSzPct val="100000"/>
            </a:pPr>
            <a:r>
              <a:rPr lang="en-US" sz="1200" dirty="0"/>
              <a:t>1. Who they are: Recruiters, HR Managers and Recruitment Agencies.</a:t>
            </a:r>
          </a:p>
          <a:p>
            <a:pPr>
              <a:spcAft>
                <a:spcPts val="1000"/>
              </a:spcAft>
              <a:buClr>
                <a:schemeClr val="accent1"/>
              </a:buClr>
              <a:buSzPct val="100000"/>
            </a:pPr>
            <a:r>
              <a:rPr lang="en-US" sz="1200" dirty="0"/>
              <a:t>2. Their role: Manually maintaining a candidate pipeline, screening the applications, issuing skills assessments and updating the status of the hiring in multiple tools.</a:t>
            </a:r>
          </a:p>
          <a:p>
            <a:pPr marL="279400" indent="-279400">
              <a:spcAft>
                <a:spcPts val="1000"/>
              </a:spcAft>
              <a:buClr>
                <a:schemeClr val="accent1"/>
              </a:buClr>
              <a:buSzPct val="100000"/>
              <a:buChar char="•"/>
            </a:pPr>
            <a:r>
              <a:rPr lang="en-US" sz="1800" dirty="0">
                <a:solidFill>
                  <a:schemeClr val="tx1"/>
                </a:solidFill>
              </a:rPr>
              <a:t>Secondary stakeholders</a:t>
            </a:r>
          </a:p>
          <a:p>
            <a:pPr>
              <a:buClr>
                <a:schemeClr val="accent1"/>
              </a:buClr>
              <a:buSzPct val="100000"/>
            </a:pPr>
            <a:r>
              <a:rPr lang="en-US" sz="1200" dirty="0"/>
              <a:t>1. Applicants &amp; Job Seekers: Candidates that submit a portfolio, complete trial assignments and are awaiting feedback.</a:t>
            </a:r>
          </a:p>
          <a:p>
            <a:pPr>
              <a:buClr>
                <a:schemeClr val="accent1"/>
              </a:buClr>
              <a:buSzPct val="100000"/>
            </a:pPr>
            <a:r>
              <a:rPr lang="en-US" sz="1200" dirty="0"/>
              <a:t>2. Hiring Managers &amp; Client Companies: Department Heads waiting for vetting and screening to complete to shortlist potential candidates.</a:t>
            </a:r>
          </a:p>
          <a:p>
            <a:pPr>
              <a:spcAft>
                <a:spcPts val="1000"/>
              </a:spcAft>
              <a:buClr>
                <a:schemeClr val="accent1"/>
              </a:buClr>
              <a:buSzPct val="100000"/>
            </a:pPr>
            <a:r>
              <a:rPr lang="en-US" sz="1200" dirty="0"/>
              <a:t>3. Ops &amp; IT Leads: Internal teams that manage / operate the tools that the recruiters use - CRM, </a:t>
            </a:r>
            <a:r>
              <a:rPr lang="en-US" sz="1200" dirty="0" err="1"/>
              <a:t>ClickUp</a:t>
            </a:r>
            <a:r>
              <a:rPr lang="en-US" sz="1200" dirty="0"/>
              <a:t>.</a:t>
            </a:r>
          </a:p>
          <a:p>
            <a:pPr>
              <a:spcAft>
                <a:spcPts val="1000"/>
              </a:spcAft>
              <a:buClr>
                <a:schemeClr val="accent1"/>
              </a:buClr>
              <a:buSzPct val="100000"/>
            </a:pPr>
            <a:r>
              <a:rPr lang="en-US" sz="1800" dirty="0">
                <a:solidFill>
                  <a:schemeClr val="tx1"/>
                </a:solidFill>
              </a:rPr>
              <a:t>Who benefits if the problem is solved?</a:t>
            </a:r>
          </a:p>
          <a:p>
            <a:pPr>
              <a:buClr>
                <a:schemeClr val="accent1"/>
              </a:buClr>
              <a:buSzPct val="100000"/>
            </a:pPr>
            <a:r>
              <a:rPr lang="en-US" sz="1200" dirty="0"/>
              <a:t>1. For Recruiters &amp; Agencies: Saves Hours of Admin Work: Automates the tedious administrative tasks of capturing contact details, reviewing forms and sending out trial briefs.</a:t>
            </a:r>
          </a:p>
          <a:p>
            <a:pPr>
              <a:buClr>
                <a:schemeClr val="accent1"/>
              </a:buClr>
              <a:buSzPct val="100000"/>
            </a:pPr>
            <a:r>
              <a:rPr lang="en-US" sz="1200" dirty="0"/>
              <a:t>2. Higher Revenue &amp; Scale: Allows recruiters to scale higher volumes of candidates without additional staff, closing deals faster.</a:t>
            </a:r>
          </a:p>
          <a:p>
            <a:pPr>
              <a:buClr>
                <a:schemeClr val="accent1"/>
              </a:buClr>
              <a:buSzPct val="100000"/>
            </a:pPr>
            <a:r>
              <a:rPr lang="en-US" sz="1200" dirty="0"/>
              <a:t>3. For Candidates: Zero Delays &amp; Clear Guidance: Are immediately notified and provided with further instructions and trial briefs if their application status changes.</a:t>
            </a:r>
          </a:p>
          <a:p>
            <a:pPr>
              <a:buClr>
                <a:schemeClr val="accent1"/>
              </a:buClr>
              <a:buSzPct val="100000"/>
            </a:pPr>
            <a:r>
              <a:rPr lang="en-US" sz="1200" dirty="0"/>
              <a:t>4. Better Candidate Experience: Removes the "black hole" of traditional job applications where the candidates are not informed.</a:t>
            </a:r>
          </a:p>
          <a:p>
            <a:pPr>
              <a:buClr>
                <a:schemeClr val="accent1"/>
              </a:buClr>
              <a:buSzPct val="100000"/>
            </a:pPr>
            <a:r>
              <a:rPr lang="en-US" sz="1200" dirty="0"/>
              <a:t>5. For Employers / Hiring Companies: Faster Time-to-Hire: Can fill the vacancy faster before the candidates accept competing job offers.</a:t>
            </a:r>
          </a:p>
          <a:p>
            <a:pPr>
              <a:spcAft>
                <a:spcPts val="1000"/>
              </a:spcAft>
              <a:buClr>
                <a:schemeClr val="accent1"/>
              </a:buClr>
              <a:buSzPct val="100000"/>
            </a:pPr>
            <a:r>
              <a:rPr lang="en-US" sz="1200" dirty="0"/>
              <a:t>6. Higher Hiring Accuracy: Are able to vet candidates' practical skills through the use of trial tasks versus reviewing a resume</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1</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e2f74ac7dc3247a9"/>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Mavericks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75376d4b20fc41d8"/>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buClr>
                <a:schemeClr val="accent1"/>
              </a:buClr>
              <a:buSzPct val="100000"/>
              <a:buChar char="•"/>
            </a:pPr>
            <a:r>
              <a:rPr lang="en-US" sz="1800" dirty="0">
                <a:solidFill>
                  <a:schemeClr val="tx1"/>
                </a:solidFill>
              </a:rPr>
              <a:t>Existing scenario and background</a:t>
            </a:r>
          </a:p>
          <a:p>
            <a:pPr>
              <a:buClr>
                <a:schemeClr val="accent1"/>
              </a:buClr>
              <a:buSzPct val="100000"/>
            </a:pPr>
            <a:r>
              <a:rPr lang="en-US" sz="1200" dirty="0"/>
              <a:t>1. Traditional recruitment challenges in a nutshell: agencies and HR have to work with hundreds of candidates across multiple hiring channels</a:t>
            </a:r>
          </a:p>
          <a:p>
            <a:pPr>
              <a:buClr>
                <a:schemeClr val="accent1"/>
              </a:buClr>
              <a:buSzPct val="100000"/>
            </a:pPr>
            <a:r>
              <a:rPr lang="en-US" sz="1200" dirty="0"/>
              <a:t>2. Modern recruitment trends: trial-based, portfolio-based and multi-stage hiring processes</a:t>
            </a:r>
          </a:p>
          <a:p>
            <a:pPr>
              <a:spcAft>
                <a:spcPts val="1000"/>
              </a:spcAft>
              <a:buClr>
                <a:schemeClr val="accent1"/>
              </a:buClr>
              <a:buSzPct val="100000"/>
            </a:pPr>
            <a:r>
              <a:rPr lang="en-US" sz="1200" dirty="0"/>
              <a:t>3. Challenges with the current processes: a significant amount of time is spent on candidate follow-ups and managing the hiring process, which leads to slow response times and candidate disengagement</a:t>
            </a:r>
          </a:p>
          <a:p>
            <a:pPr marL="279400" indent="-279400">
              <a:buClr>
                <a:schemeClr val="accent1"/>
              </a:buClr>
              <a:buSzPct val="100000"/>
              <a:buChar char="•"/>
            </a:pPr>
            <a:r>
              <a:rPr lang="en-US" sz="1800" dirty="0">
                <a:solidFill>
                  <a:schemeClr val="tx1"/>
                </a:solidFill>
              </a:rPr>
              <a:t>Relevant data or facts</a:t>
            </a:r>
          </a:p>
          <a:p>
            <a:pPr>
              <a:buClr>
                <a:schemeClr val="accent1"/>
              </a:buClr>
              <a:buSzPct val="100000"/>
            </a:pPr>
            <a:r>
              <a:rPr lang="en-US" sz="1200" dirty="0"/>
              <a:t>1. Commercial proof: agencies spend +$2,200(approx.) per custom-built applicant tracking system to automate the management of hundreds of applicants and reduce their administrative workload</a:t>
            </a:r>
          </a:p>
          <a:p>
            <a:pPr>
              <a:buClr>
                <a:schemeClr val="accent1"/>
              </a:buClr>
              <a:buSzPct val="100000"/>
            </a:pPr>
            <a:r>
              <a:rPr lang="en-US" sz="1200" dirty="0"/>
              <a:t>2. Current tech stack: Make.com /n8n (automated logic), </a:t>
            </a:r>
            <a:r>
              <a:rPr lang="en-US" sz="1200" dirty="0" err="1"/>
              <a:t>Typeform</a:t>
            </a:r>
            <a:r>
              <a:rPr lang="en-US" sz="1200" dirty="0"/>
              <a:t> (applicant forms), and </a:t>
            </a:r>
            <a:r>
              <a:rPr lang="en-US" sz="1200" dirty="0" err="1"/>
              <a:t>ClickUp</a:t>
            </a:r>
            <a:r>
              <a:rPr lang="en-US" sz="1200" dirty="0"/>
              <a:t> (CRM) to build a recruitment pipeline.</a:t>
            </a:r>
          </a:p>
          <a:p>
            <a:pPr>
              <a:spcAft>
                <a:spcPts val="1000"/>
              </a:spcAft>
              <a:buClr>
                <a:schemeClr val="accent1"/>
              </a:buClr>
              <a:buSzPct val="100000"/>
            </a:pPr>
            <a:r>
              <a:rPr lang="en-US" sz="1200" dirty="0"/>
              <a:t>3. Process: 8-step candidate recruitment and onboarding pipeline (New Applicant → Reviewed → Request Trial → Review Trial → Onboarding → Hired → Not a Fit → Complete)Process details: structured data collection from the applicants about the desired role, portfolio links, availability, experience, and answers to screening questions</a:t>
            </a:r>
          </a:p>
          <a:p>
            <a:pPr marL="279400" indent="-279400">
              <a:buClr>
                <a:schemeClr val="accent1"/>
              </a:buClr>
              <a:buSzPct val="100000"/>
              <a:buChar char="•"/>
            </a:pPr>
            <a:r>
              <a:rPr lang="en-US" sz="1800" dirty="0">
                <a:solidFill>
                  <a:schemeClr val="tx1"/>
                </a:solidFill>
              </a:rPr>
              <a:t>Current workflow, step by step.</a:t>
            </a:r>
          </a:p>
          <a:p>
            <a:pPr>
              <a:buClr>
                <a:schemeClr val="accent1"/>
              </a:buClr>
              <a:buSzPct val="100000"/>
            </a:pPr>
            <a:r>
              <a:rPr lang="en-US" sz="1200" dirty="0"/>
              <a:t>1. Application submission: Candidate submits contact details, portfolio, and background info.</a:t>
            </a:r>
          </a:p>
          <a:p>
            <a:pPr>
              <a:buClr>
                <a:schemeClr val="accent1"/>
              </a:buClr>
              <a:buSzPct val="100000"/>
            </a:pPr>
            <a:r>
              <a:rPr lang="en-US" sz="1200" dirty="0"/>
              <a:t>2. Data entry: Recruiter manually enters candidate details into a CRM or spreadsheet.</a:t>
            </a:r>
          </a:p>
          <a:p>
            <a:pPr>
              <a:buClr>
                <a:schemeClr val="accent1"/>
              </a:buClr>
              <a:buSzPct val="100000"/>
            </a:pPr>
            <a:r>
              <a:rPr lang="en-US" sz="1200" dirty="0"/>
              <a:t>3. Profile review: Recruiter reviews applications and updates candidate status.</a:t>
            </a:r>
          </a:p>
          <a:p>
            <a:pPr>
              <a:buClr>
                <a:schemeClr val="accent1"/>
              </a:buClr>
              <a:buSzPct val="100000"/>
            </a:pPr>
            <a:r>
              <a:rPr lang="en-US" sz="1200" dirty="0"/>
              <a:t>4. Trial Assignment: Recruiter manually emails trial tasks to qualified candidates.</a:t>
            </a:r>
          </a:p>
          <a:p>
            <a:pPr>
              <a:buClr>
                <a:schemeClr val="accent1"/>
              </a:buClr>
              <a:buSzPct val="100000"/>
            </a:pPr>
            <a:r>
              <a:rPr lang="en-US" sz="1200" dirty="0"/>
              <a:t>5. Task submission: Candidate completes the task and submits the link.</a:t>
            </a:r>
          </a:p>
          <a:p>
            <a:pPr>
              <a:buClr>
                <a:schemeClr val="accent1"/>
              </a:buClr>
              <a:buSzPct val="100000"/>
            </a:pPr>
            <a:r>
              <a:rPr lang="en-US" sz="1200" dirty="0"/>
              <a:t>6. Final status &amp; follow-up: Recruiter manually updates the hiring status and sends follow-up or onboarding emails</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a3bc463551c147af"/>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Mavericks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047eff54f4f8424d"/>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500"/>
              </a:spcAft>
              <a:buClr>
                <a:schemeClr val="accent1"/>
              </a:buClr>
              <a:buSzPct val="100000"/>
              <a:buChar char="•"/>
            </a:pPr>
            <a:r>
              <a:rPr lang="en-US" sz="1800" dirty="0">
                <a:solidFill>
                  <a:schemeClr val="tx1"/>
                </a:solidFill>
              </a:rPr>
              <a:t>Main difficulties and bottlenecks</a:t>
            </a:r>
          </a:p>
          <a:p>
            <a:pPr>
              <a:buClr>
                <a:schemeClr val="accent1"/>
              </a:buClr>
              <a:buSzPct val="100000"/>
            </a:pPr>
            <a:r>
              <a:rPr lang="en-US" sz="1200" dirty="0"/>
              <a:t>1. Pipeline logging &amp; manual data entry: Copying applicant details, contact data, portfolio links, availability info, and screening results from application forms into pipeline managers</a:t>
            </a:r>
          </a:p>
          <a:p>
            <a:pPr>
              <a:buClr>
                <a:schemeClr val="accent1"/>
              </a:buClr>
              <a:buSzPct val="100000"/>
            </a:pPr>
            <a:r>
              <a:rPr lang="en-US" sz="1200" dirty="0"/>
              <a:t>2. Friction in hiring process due to multiple-step trial work: Modern hiring involves multiple-step trial work (e.g. video editing, time-tracked assignments) which requires issuing guidelines, tracking submission links and manually logging the progress into the systems</a:t>
            </a:r>
          </a:p>
          <a:p>
            <a:pPr>
              <a:spcAft>
                <a:spcPts val="1000"/>
              </a:spcAft>
              <a:buClr>
                <a:schemeClr val="accent1"/>
              </a:buClr>
              <a:buSzPct val="100000"/>
            </a:pPr>
            <a:r>
              <a:rPr lang="en-US" sz="1200" dirty="0"/>
              <a:t>3. Manual communication triggers: Recruiters have to keep track of what stage a candidate is on, and manually write and send out emails every time an application moves to a new stage</a:t>
            </a:r>
          </a:p>
          <a:p>
            <a:pPr marL="279400" indent="-279400">
              <a:spcAft>
                <a:spcPts val="500"/>
              </a:spcAft>
              <a:buClr>
                <a:schemeClr val="accent1"/>
              </a:buClr>
              <a:buSzPct val="100000"/>
              <a:buChar char="•"/>
            </a:pPr>
            <a:r>
              <a:rPr lang="en-US" sz="1800" dirty="0">
                <a:solidFill>
                  <a:schemeClr val="tx1"/>
                </a:solidFill>
              </a:rPr>
              <a:t>Root causes behind them</a:t>
            </a:r>
          </a:p>
          <a:p>
            <a:pPr>
              <a:buClr>
                <a:schemeClr val="accent1"/>
              </a:buClr>
              <a:buSzPct val="100000"/>
            </a:pPr>
            <a:r>
              <a:rPr lang="en-US" sz="1200" dirty="0"/>
              <a:t>1. Disjointed tools: The application forms, pipeline managers (</a:t>
            </a:r>
            <a:r>
              <a:rPr lang="en-US" sz="1200" dirty="0" err="1"/>
              <a:t>ClickUp</a:t>
            </a:r>
            <a:r>
              <a:rPr lang="en-US" sz="1200" dirty="0"/>
              <a:t>) and email are not connected into a sequence of automated triggers</a:t>
            </a:r>
          </a:p>
          <a:p>
            <a:pPr>
              <a:buClr>
                <a:schemeClr val="accent1"/>
              </a:buClr>
              <a:buSzPct val="100000"/>
            </a:pPr>
            <a:r>
              <a:rPr lang="en-US" sz="1200" dirty="0"/>
              <a:t>2. Modern hiring practices: Many companies now require multiple real-life assignments to be completed by the candidates before they can be invited to an interview</a:t>
            </a:r>
          </a:p>
          <a:p>
            <a:pPr>
              <a:spcAft>
                <a:spcPts val="1000"/>
              </a:spcAft>
              <a:buClr>
                <a:schemeClr val="accent1"/>
              </a:buClr>
              <a:buSzPct val="100000"/>
            </a:pPr>
            <a:r>
              <a:rPr lang="en-US" sz="1200" dirty="0"/>
              <a:t>3. Passive database approach: Instead of being driven by automated triggers, the candidate pipeline is managed manually and kept in a spreadsheet-like passive database</a:t>
            </a:r>
          </a:p>
          <a:p>
            <a:pPr marL="279400" indent="-279400">
              <a:spcAft>
                <a:spcPts val="500"/>
              </a:spcAft>
              <a:buClr>
                <a:schemeClr val="accent1"/>
              </a:buClr>
              <a:buSzPct val="100000"/>
              <a:buChar char="•"/>
            </a:pPr>
            <a:r>
              <a:rPr lang="en-US" sz="1800" dirty="0">
                <a:solidFill>
                  <a:schemeClr val="tx1"/>
                </a:solidFill>
              </a:rPr>
              <a:t>Consequences of leaving them unsolved</a:t>
            </a:r>
          </a:p>
          <a:p>
            <a:pPr>
              <a:buClr>
                <a:schemeClr val="accent1"/>
              </a:buClr>
              <a:buSzPct val="100000"/>
            </a:pPr>
            <a:r>
              <a:rPr lang="en-US" sz="1200" dirty="0"/>
              <a:t>1. Slow speed-to-hire: Candidates who are perfect matches for open positions will move on to other opportunities if they are not progressed through the hiring pipeline at a satisfactory pace</a:t>
            </a:r>
          </a:p>
          <a:p>
            <a:pPr>
              <a:buClr>
                <a:schemeClr val="accent1"/>
              </a:buClr>
              <a:buSzPct val="100000"/>
            </a:pPr>
            <a:r>
              <a:rPr lang="en-US" sz="1200" dirty="0"/>
              <a:t>2. Waste of recruiters’ time: Recruiters spend a significant portion of their working hours on automatable, boring copy-paste tasks instead of doing actual recruiting</a:t>
            </a:r>
          </a:p>
          <a:p>
            <a:pPr>
              <a:spcAft>
                <a:spcPts val="1000"/>
              </a:spcAft>
              <a:buClr>
                <a:schemeClr val="accent1"/>
              </a:buClr>
              <a:buSzPct val="100000"/>
            </a:pPr>
            <a:r>
              <a:rPr lang="en-US" sz="1200" dirty="0"/>
              <a:t>3. Revenue loss &amp; scaling limitations: The company cannot scale its revenues from recruitment services without significantly increasing the size of the administrative staff, thus wasting the recruiters' time who should instead be focused on client acquisition and candidate outreach</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cd027e792c6d4719"/>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Mavericks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219896dd94584bd9"/>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500"/>
              </a:spcAft>
              <a:buClr>
                <a:schemeClr val="accent1"/>
              </a:buClr>
              <a:buSzPct val="100000"/>
              <a:buChar char="•"/>
            </a:pPr>
            <a:r>
              <a:rPr lang="en-US" sz="1800" dirty="0">
                <a:solidFill>
                  <a:schemeClr val="tx1"/>
                </a:solidFill>
              </a:rPr>
              <a:t>Existing methods, systems or alternatives</a:t>
            </a:r>
          </a:p>
          <a:p>
            <a:pPr>
              <a:buClr>
                <a:schemeClr val="accent1"/>
              </a:buClr>
              <a:buSzPct val="100000"/>
            </a:pPr>
            <a:r>
              <a:rPr lang="en-US" sz="1200" dirty="0"/>
              <a:t>1. Manual Spreadsheet &amp; Email Tracking (Google Sheets / Excel + Gmail): Recruiters manually input applicant details from forms or emails into a shared spreadsheet and then manually generate and send follow-up emails to each candidate.</a:t>
            </a:r>
          </a:p>
          <a:p>
            <a:pPr>
              <a:buClr>
                <a:schemeClr val="accent1"/>
              </a:buClr>
              <a:buSzPct val="100000"/>
            </a:pPr>
            <a:r>
              <a:rPr lang="en-US" sz="1200" dirty="0"/>
              <a:t>2. Static Application Form (</a:t>
            </a:r>
            <a:r>
              <a:rPr lang="en-US" sz="1200" dirty="0" err="1"/>
              <a:t>Typeform</a:t>
            </a:r>
            <a:r>
              <a:rPr lang="en-US" sz="1200" dirty="0"/>
              <a:t> / Google Forms without Automation): Candidate application data is captured in a form, but then it is left in the form system until a recruiter manually reviews and imports the data into the system.</a:t>
            </a:r>
          </a:p>
          <a:p>
            <a:pPr>
              <a:spcAft>
                <a:spcPts val="500"/>
              </a:spcAft>
              <a:buClr>
                <a:schemeClr val="accent1"/>
              </a:buClr>
              <a:buSzPct val="100000"/>
            </a:pPr>
            <a:r>
              <a:rPr lang="en-US" sz="1200" dirty="0"/>
              <a:t>3. Standalone Pipeline Boards &amp; Legacy ATS (</a:t>
            </a:r>
            <a:r>
              <a:rPr lang="en-US" sz="1200" dirty="0" err="1"/>
              <a:t>ClickUp</a:t>
            </a:r>
            <a:r>
              <a:rPr lang="en-US" sz="1200" dirty="0"/>
              <a:t> / Trello / Basic ATS): Recruiters manually move applications through a board of hiring stages, but the tool serves as a passive storage only.</a:t>
            </a:r>
          </a:p>
          <a:p>
            <a:pPr marL="279400" indent="-279400">
              <a:spcAft>
                <a:spcPts val="500"/>
              </a:spcAft>
              <a:buClr>
                <a:schemeClr val="accent1"/>
              </a:buClr>
              <a:buSzPct val="100000"/>
              <a:buChar char="•"/>
            </a:pPr>
            <a:r>
              <a:rPr lang="en-US" sz="1800" dirty="0">
                <a:solidFill>
                  <a:schemeClr val="tx1"/>
                </a:solidFill>
              </a:rPr>
              <a:t>Limitations of each</a:t>
            </a:r>
          </a:p>
          <a:p>
            <a:pPr>
              <a:buClr>
                <a:schemeClr val="accent1"/>
              </a:buClr>
              <a:buSzPct val="100000"/>
            </a:pPr>
            <a:r>
              <a:rPr lang="en-US" sz="1200" dirty="0"/>
              <a:t>1. Spreadsheets: Possibility of human error, copy-paste fatigue, missing portfolio links, and no automated email functionality.</a:t>
            </a:r>
          </a:p>
          <a:p>
            <a:pPr>
              <a:buClr>
                <a:schemeClr val="accent1"/>
              </a:buClr>
              <a:buSzPct val="100000"/>
            </a:pPr>
            <a:r>
              <a:rPr lang="en-US" sz="1200" dirty="0"/>
              <a:t>2. Static Form: The data captured resides in the form system, requiring manual extraction into candidate management systems.</a:t>
            </a:r>
          </a:p>
          <a:p>
            <a:pPr>
              <a:spcAft>
                <a:spcPts val="500"/>
              </a:spcAft>
              <a:buClr>
                <a:schemeClr val="accent1"/>
              </a:buClr>
              <a:buSzPct val="100000"/>
            </a:pPr>
            <a:r>
              <a:rPr lang="en-US" sz="1200" dirty="0"/>
              <a:t>3. Standalone Pipeline Board: Changing "Status" of a candidate (Say, from "New Applicant" to "Request Trial") doesn't automatically create instructions/briefs/trial links; the recruiter must manually send email instructions every time.</a:t>
            </a:r>
          </a:p>
          <a:p>
            <a:pPr marL="279400" indent="-279400">
              <a:spcAft>
                <a:spcPts val="500"/>
              </a:spcAft>
              <a:buClr>
                <a:schemeClr val="accent1"/>
              </a:buClr>
              <a:buSzPct val="100000"/>
              <a:buChar char="•"/>
            </a:pPr>
            <a:r>
              <a:rPr lang="en-US" sz="1800" dirty="0">
                <a:solidFill>
                  <a:schemeClr val="tx1"/>
                </a:solidFill>
              </a:rPr>
              <a:t>The gap they leave open (Key Challenges)</a:t>
            </a:r>
          </a:p>
          <a:p>
            <a:pPr>
              <a:buClr>
                <a:schemeClr val="accent1"/>
              </a:buClr>
              <a:buSzPct val="100000"/>
            </a:pPr>
            <a:r>
              <a:rPr lang="en-US" sz="1200" dirty="0"/>
              <a:t>1. No event-driven automation: Recruiters can't set triggers that, for example, automatically send an email with a practical trial brief or a tracking link when a candidate is moved to a new status in </a:t>
            </a:r>
            <a:r>
              <a:rPr lang="en-US" sz="1200" dirty="0" err="1"/>
              <a:t>ClickUp</a:t>
            </a:r>
            <a:r>
              <a:rPr lang="en-US" sz="1200" dirty="0"/>
              <a:t>.</a:t>
            </a:r>
          </a:p>
          <a:p>
            <a:pPr>
              <a:buClr>
                <a:schemeClr val="accent1"/>
              </a:buClr>
              <a:buSzPct val="100000"/>
            </a:pPr>
            <a:r>
              <a:rPr lang="en-US" sz="1200" dirty="0"/>
              <a:t>2. Hard to scale up recruitment with multi-step practical trials: The latest trend is to have candidates perform some practical tasks (ideally time-bound) as a trial, but this requires extra coordination for each candidate using the existing tools.</a:t>
            </a:r>
          </a:p>
          <a:p>
            <a:pPr>
              <a:buClr>
                <a:schemeClr val="accent1"/>
              </a:buClr>
              <a:buSzPct val="100000"/>
            </a:pPr>
            <a:r>
              <a:rPr lang="en-US" sz="1200" dirty="0"/>
              <a:t>3. Time-consuming and error-prone process: The time lag between a status change and automated follow-up email can lead to high drop-off and loss of good candidates.</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e1a07071dde84100"/>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Mavericks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2847d76196014686"/>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300"/>
              </a:spcAft>
              <a:buClr>
                <a:schemeClr val="accent1"/>
              </a:buClr>
              <a:buSzPct val="100000"/>
              <a:buChar char="•"/>
            </a:pPr>
            <a:r>
              <a:rPr lang="en-US" sz="1800" dirty="0">
                <a:solidFill>
                  <a:schemeClr val="tx1"/>
                </a:solidFill>
              </a:rPr>
              <a:t>Hardware Requirements</a:t>
            </a:r>
          </a:p>
          <a:p>
            <a:pPr>
              <a:buClr>
                <a:schemeClr val="accent1"/>
              </a:buClr>
              <a:buSzPct val="100000"/>
            </a:pPr>
            <a:r>
              <a:rPr lang="en-US" sz="1200" dirty="0"/>
              <a:t>1. Standard Workstations: Computers with simplified configurations for recruiting and applicant management.</a:t>
            </a:r>
          </a:p>
          <a:p>
            <a:pPr>
              <a:buClr>
                <a:schemeClr val="accent1"/>
              </a:buClr>
              <a:buSzPct val="100000"/>
            </a:pPr>
            <a:r>
              <a:rPr lang="en-US" sz="1200" dirty="0"/>
              <a:t>2. 100% Cloud-Based: The solution does not require any server, GPU, or hardware installations.</a:t>
            </a:r>
          </a:p>
          <a:p>
            <a:pPr>
              <a:spcAft>
                <a:spcPts val="500"/>
              </a:spcAft>
              <a:buClr>
                <a:schemeClr val="accent1"/>
              </a:buClr>
              <a:buSzPct val="100000"/>
            </a:pPr>
            <a:r>
              <a:rPr lang="en-US" sz="1200" dirty="0"/>
              <a:t>3. Mobile-Ready: The tools can be supplemented with mobile phone features for tracking the status of tracking.</a:t>
            </a:r>
          </a:p>
          <a:p>
            <a:pPr marL="279400" indent="-279400">
              <a:spcAft>
                <a:spcPts val="300"/>
              </a:spcAft>
              <a:buClr>
                <a:schemeClr val="accent1"/>
              </a:buClr>
              <a:buSzPct val="100000"/>
              <a:buChar char="•"/>
            </a:pPr>
            <a:r>
              <a:rPr lang="en-US" sz="1800" dirty="0">
                <a:solidFill>
                  <a:schemeClr val="tx1"/>
                </a:solidFill>
              </a:rPr>
              <a:t>Software Requirements</a:t>
            </a:r>
          </a:p>
          <a:p>
            <a:pPr>
              <a:buClr>
                <a:schemeClr val="accent1"/>
              </a:buClr>
              <a:buSzPct val="100000"/>
            </a:pPr>
            <a:r>
              <a:rPr lang="en-US" sz="1200" dirty="0"/>
              <a:t>1. Automation Software: Make.com (execution of webhook scenarios).</a:t>
            </a:r>
          </a:p>
          <a:p>
            <a:pPr>
              <a:buClr>
                <a:schemeClr val="accent1"/>
              </a:buClr>
              <a:buSzPct val="100000"/>
            </a:pPr>
            <a:r>
              <a:rPr lang="en-US" sz="1200" dirty="0"/>
              <a:t>2. Pipeline / ATS: </a:t>
            </a:r>
            <a:r>
              <a:rPr lang="en-US" sz="1200" dirty="0" err="1"/>
              <a:t>ClickUp</a:t>
            </a:r>
            <a:r>
              <a:rPr lang="en-US" sz="1200" dirty="0"/>
              <a:t> (candidate cards for 8 stages of hiring).</a:t>
            </a:r>
          </a:p>
          <a:p>
            <a:pPr>
              <a:buClr>
                <a:schemeClr val="accent1"/>
              </a:buClr>
              <a:buSzPct val="100000"/>
            </a:pPr>
            <a:r>
              <a:rPr lang="en-US" sz="1200" dirty="0"/>
              <a:t>3. </a:t>
            </a:r>
            <a:r>
              <a:rPr lang="en-US" sz="1200" dirty="0" err="1"/>
              <a:t>Typeform</a:t>
            </a:r>
            <a:r>
              <a:rPr lang="en-US" sz="1200" dirty="0"/>
              <a:t>: Collection of resumes and applications.</a:t>
            </a:r>
          </a:p>
          <a:p>
            <a:pPr>
              <a:buClr>
                <a:schemeClr val="accent1"/>
              </a:buClr>
              <a:buSzPct val="100000"/>
            </a:pPr>
            <a:r>
              <a:rPr lang="en-US" sz="1200" dirty="0"/>
              <a:t>4. </a:t>
            </a:r>
            <a:r>
              <a:rPr lang="en-US" sz="1200" dirty="0" err="1"/>
              <a:t>Clockify</a:t>
            </a:r>
            <a:r>
              <a:rPr lang="en-US" sz="1200" dirty="0"/>
              <a:t>: Time tracking for practical assignments.</a:t>
            </a:r>
          </a:p>
          <a:p>
            <a:pPr>
              <a:buClr>
                <a:schemeClr val="accent1"/>
              </a:buClr>
              <a:buSzPct val="100000"/>
            </a:pPr>
            <a:r>
              <a:rPr lang="en-US" sz="1200" dirty="0"/>
              <a:t>5. Email Platform: Gmail / Outlook (trial emails).</a:t>
            </a:r>
          </a:p>
          <a:p>
            <a:pPr>
              <a:spcAft>
                <a:spcPts val="500"/>
              </a:spcAft>
              <a:buClr>
                <a:schemeClr val="accent1"/>
              </a:buClr>
              <a:buSzPct val="100000"/>
            </a:pPr>
            <a:r>
              <a:rPr lang="en-US" sz="1200" dirty="0"/>
              <a:t>6. Candidate Card Platform: Pipeline / </a:t>
            </a:r>
            <a:r>
              <a:rPr lang="en-US" sz="1200" dirty="0" err="1"/>
              <a:t>ClickUp</a:t>
            </a:r>
            <a:r>
              <a:rPr lang="en-US" sz="1200" dirty="0"/>
              <a:t> </a:t>
            </a:r>
          </a:p>
          <a:p>
            <a:pPr marL="279400" indent="-279400">
              <a:spcAft>
                <a:spcPts val="300"/>
              </a:spcAft>
              <a:buClr>
                <a:schemeClr val="accent1"/>
              </a:buClr>
              <a:buSzPct val="100000"/>
              <a:buChar char="•"/>
            </a:pPr>
            <a:r>
              <a:rPr lang="en-US" sz="1800" dirty="0">
                <a:solidFill>
                  <a:schemeClr val="tx1"/>
                </a:solidFill>
              </a:rPr>
              <a:t>Other resources (Including Human Resources)</a:t>
            </a:r>
          </a:p>
          <a:p>
            <a:pPr>
              <a:buClr>
                <a:schemeClr val="accent1"/>
              </a:buClr>
              <a:buSzPct val="100000"/>
            </a:pPr>
            <a:r>
              <a:rPr lang="en-US" sz="1200" dirty="0"/>
              <a:t>Human Resources:</a:t>
            </a:r>
          </a:p>
          <a:p>
            <a:pPr marL="342900" indent="-342900">
              <a:buClr>
                <a:schemeClr val="accent1"/>
              </a:buClr>
              <a:buSzPct val="100000"/>
              <a:buAutoNum type="arabicPeriod"/>
            </a:pPr>
            <a:r>
              <a:rPr lang="en-US" sz="1200" dirty="0"/>
              <a:t>Automation Developer – webhook automation and scenario designer</a:t>
            </a:r>
          </a:p>
          <a:p>
            <a:pPr marL="342900" indent="-342900">
              <a:buClr>
                <a:schemeClr val="accent1"/>
              </a:buClr>
              <a:buSzPct val="100000"/>
              <a:buAutoNum type="arabicPeriod" startAt="2"/>
            </a:pPr>
            <a:r>
              <a:rPr lang="en-US" sz="1200" dirty="0"/>
              <a:t>Recruiter / HR – the person who reviews candidates for hiring</a:t>
            </a:r>
          </a:p>
          <a:p>
            <a:pPr marL="342900" indent="-342900">
              <a:buClr>
                <a:schemeClr val="accent1"/>
              </a:buClr>
              <a:buSzPct val="100000"/>
              <a:buAutoNum type="arabicPeriod" startAt="2"/>
            </a:pPr>
            <a:r>
              <a:rPr lang="en-US" sz="1200" dirty="0"/>
              <a:t>Hiring Manager – the person who reviews the results of the trial assignments</a:t>
            </a:r>
          </a:p>
          <a:p>
            <a:pPr>
              <a:buClr>
                <a:schemeClr val="accent1"/>
              </a:buClr>
              <a:buSzPct val="100000"/>
            </a:pPr>
            <a:r>
              <a:rPr lang="en-US" sz="1200" dirty="0"/>
              <a:t>Equipment:</a:t>
            </a:r>
          </a:p>
          <a:p>
            <a:pPr marL="228600" indent="-228600">
              <a:buClr>
                <a:schemeClr val="accent1"/>
              </a:buClr>
              <a:buSzPct val="100000"/>
              <a:buAutoNum type="arabicPeriod"/>
            </a:pPr>
            <a:r>
              <a:rPr lang="en-US" sz="1200" dirty="0"/>
              <a:t>   Webhooks: API connections in the cloud</a:t>
            </a:r>
          </a:p>
          <a:p>
            <a:pPr marL="228600" indent="-228600">
              <a:buClr>
                <a:schemeClr val="accent1"/>
              </a:buClr>
              <a:buSzPct val="100000"/>
              <a:buAutoNum type="arabicPeriod"/>
            </a:pPr>
            <a:r>
              <a:rPr lang="en-US" sz="1200" dirty="0"/>
              <a:t>   Trial Assignment Examples: Examples of scenarios for performing assignments</a:t>
            </a:r>
          </a:p>
          <a:p>
            <a:pPr marL="228600" indent="-228600">
              <a:buClr>
                <a:schemeClr val="accent1"/>
              </a:buClr>
              <a:buSzPct val="100000"/>
              <a:buAutoNum type="arabicPeriod"/>
            </a:pPr>
            <a:r>
              <a:rPr lang="en-US" sz="1200" dirty="0"/>
              <a:t>   Cloud Storage: Google Drive / Dropbox (portfolios, assignments).</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f84ed7eb8d9a4227"/>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Mavericks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707cea3a3c224da1"/>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What your team intends to do</a:t>
            </a:r>
          </a:p>
          <a:p>
            <a:pPr>
              <a:buClr>
                <a:schemeClr val="accent1"/>
              </a:buClr>
              <a:buSzPct val="100000"/>
            </a:pPr>
            <a:r>
              <a:rPr lang="en-US" sz="1200" dirty="0"/>
              <a:t>1. Deploy an Event-Driven AI Hiring Pipeline: Deploy an automated hiring pipeline connecting Make.com, </a:t>
            </a:r>
            <a:r>
              <a:rPr lang="en-US" sz="1200" dirty="0" err="1"/>
              <a:t>Typeform</a:t>
            </a:r>
            <a:r>
              <a:rPr lang="en-US" sz="1200" dirty="0"/>
              <a:t>, and </a:t>
            </a:r>
            <a:r>
              <a:rPr lang="en-US" sz="1200" dirty="0" err="1"/>
              <a:t>ClickUp</a:t>
            </a:r>
            <a:r>
              <a:rPr lang="en-US" sz="1200" dirty="0"/>
              <a:t> and design an applicant lifecycle workflow from New Applicant to Reviewed, Request Trial, Review Trial, and Onboarding.</a:t>
            </a:r>
          </a:p>
          <a:p>
            <a:pPr>
              <a:buClr>
                <a:schemeClr val="accent1"/>
              </a:buClr>
              <a:buSzPct val="100000"/>
            </a:pPr>
            <a:r>
              <a:rPr lang="en-US" sz="1200" dirty="0"/>
              <a:t>2. Automate the Candidate Lifecycle: Create an automated candidate lifecycle workflow that eliminates the need to manually enter candidate information or responses.</a:t>
            </a:r>
          </a:p>
          <a:p>
            <a:pPr>
              <a:spcAft>
                <a:spcPts val="1000"/>
              </a:spcAft>
              <a:buClr>
                <a:schemeClr val="accent1"/>
              </a:buClr>
              <a:buSzPct val="100000"/>
            </a:pPr>
            <a:r>
              <a:rPr lang="en-US" sz="1200" dirty="0"/>
              <a:t>3. Trigger 2-Way Workflows: Trigger 2-way workflows to instantly send out trial project briefs, guidelines, and </a:t>
            </a:r>
            <a:r>
              <a:rPr lang="en-US" sz="1200" dirty="0" err="1"/>
              <a:t>Clockify</a:t>
            </a:r>
            <a:r>
              <a:rPr lang="en-US" sz="1200" dirty="0"/>
              <a:t> time tracking links as soon as a recruiter updates the status of a candidate in </a:t>
            </a:r>
            <a:r>
              <a:rPr lang="en-US" sz="1200" dirty="0" err="1"/>
              <a:t>ClickUp</a:t>
            </a:r>
            <a:r>
              <a:rPr lang="en-US" sz="1200" dirty="0"/>
              <a:t>.</a:t>
            </a:r>
          </a:p>
          <a:p>
            <a:pPr marL="279400" indent="-279400">
              <a:spcAft>
                <a:spcPts val="1000"/>
              </a:spcAft>
              <a:buClr>
                <a:schemeClr val="accent1"/>
              </a:buClr>
              <a:buSzPct val="100000"/>
              <a:buChar char="•"/>
            </a:pPr>
            <a:r>
              <a:rPr lang="en-US" sz="1800" dirty="0">
                <a:solidFill>
                  <a:schemeClr val="tx1"/>
                </a:solidFill>
              </a:rPr>
              <a:t>What you want to improve</a:t>
            </a:r>
          </a:p>
          <a:p>
            <a:pPr>
              <a:buClr>
                <a:schemeClr val="accent1"/>
              </a:buClr>
              <a:buSzPct val="100000"/>
            </a:pPr>
            <a:r>
              <a:rPr lang="en-US" sz="1200" dirty="0"/>
              <a:t>1. Recruiter Administrative Inefficiencies: Remove administrative work required to manually copy-paste candidate contact details, portfolio links, and screening responses into tracking systems,</a:t>
            </a:r>
          </a:p>
          <a:p>
            <a:pPr>
              <a:buClr>
                <a:schemeClr val="accent1"/>
              </a:buClr>
              <a:buSzPct val="100000"/>
            </a:pPr>
            <a:r>
              <a:rPr lang="en-US" sz="1200" dirty="0"/>
              <a:t>2. Multi-Stage Evaluation Delays: Streamline multi-stage trial evaluation with interactive trial project briefs (e.g., samples) that currently require multiple back-and-forth emails,</a:t>
            </a:r>
          </a:p>
          <a:p>
            <a:pPr>
              <a:spcAft>
                <a:spcPts val="1000"/>
              </a:spcAft>
              <a:buClr>
                <a:schemeClr val="accent1"/>
              </a:buClr>
              <a:buSzPct val="100000"/>
            </a:pPr>
            <a:r>
              <a:rPr lang="en-US" sz="1200" dirty="0"/>
              <a:t>3. Speed-to-Hire Inefficiencies: Limit the amount of time between candidate review, trial initiation, and status updates.</a:t>
            </a:r>
          </a:p>
          <a:p>
            <a:pPr marL="279400" indent="-279400">
              <a:spcAft>
                <a:spcPts val="1000"/>
              </a:spcAft>
              <a:buClr>
                <a:schemeClr val="accent1"/>
              </a:buClr>
              <a:buSzPct val="100000"/>
              <a:buChar char="•"/>
            </a:pPr>
            <a:r>
              <a:rPr lang="en-US" sz="1800" dirty="0">
                <a:solidFill>
                  <a:schemeClr val="tx1"/>
                </a:solidFill>
              </a:rPr>
              <a:t>What successful improvement should you achieve</a:t>
            </a:r>
          </a:p>
          <a:p>
            <a:pPr>
              <a:buClr>
                <a:schemeClr val="accent1"/>
              </a:buClr>
              <a:buSzPct val="100000"/>
            </a:pPr>
            <a:r>
              <a:rPr lang="en-US" sz="1200" dirty="0"/>
              <a:t>1. 80%+ Reduction in Administrative Inefficiencies: Reduce administrative inefficiencies by 80%+ to free up recruiters' time for higher-leverage activities such as candidate interviewing and placement,</a:t>
            </a:r>
          </a:p>
          <a:p>
            <a:pPr>
              <a:buClr>
                <a:schemeClr val="accent1"/>
              </a:buClr>
              <a:buSzPct val="100000"/>
            </a:pPr>
            <a:r>
              <a:rPr lang="en-US" sz="1200" dirty="0"/>
              <a:t>2. Zero-Delay Between Lifecycle Stage: Automatically send out email notifications and trial project briefs as soon as a candidate's status changes,</a:t>
            </a:r>
          </a:p>
          <a:p>
            <a:pPr>
              <a:buClr>
                <a:schemeClr val="accent1"/>
              </a:buClr>
              <a:buSzPct val="100000"/>
            </a:pPr>
            <a:r>
              <a:rPr lang="en-US" sz="1200" dirty="0"/>
              <a:t>3. Faster Speed-to-Hire and Higher Throughput: Increase the speed-to-hire and recruiter throughput to scale hiring capacity with higher application volumes.</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docProps/app.xml><?xml version="1.0" encoding="utf-8"?>
<Properties xmlns="http://schemas.openxmlformats.org/officeDocument/2006/extended-properties" xmlns:vt="http://schemas.openxmlformats.org/officeDocument/2006/docPropsVTypes">
  <TotalTime>6</TotalTime>
  <Words>306</Words>
  <Application>Microsoft Office PowerPoint</Application>
  <PresentationFormat>Widescreen</PresentationFormat>
  <Paragraphs>23</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Cambria</vt:lpstr>
      <vt:lpstr>Genesis Ideathon</vt:lpstr>
      <vt:lpstr>PowerPoint Presentation</vt:lpstr>
      <vt:lpstr>DOMAIN PROBLEM IN OUR WORDS</vt:lpstr>
    </vt:vector>
  </TitlesOfParts>
  <Company>PptxGenJS</Company>
  <LinksUpToDate>false</LinksUpToDate>
  <SharedDoc>false</SharedDoc>
  <HyperlinksChanged>false</HyperlinksChanged>
  <AppVersion>16.0000</AppVersion>
</Properties>
</file>

<file path=docProps/core.xml><?xml version="1.0" encoding="utf-8"?>
<coreProperties xmlns:dc="http://purl.org/dc/elements/1.1/" xmlns:dcterms="http://purl.org/dc/terms/" xmlns:xsi="http://www.w3.org/2001/XMLSchema-instance" xmlns="http://schemas.openxmlformats.org/package/2006/metadata/core-properties">
  <dc:title>Genesis Ideathon – Pre-Ideathon Template</dc:title>
  <dc:subject>PptxGenJS Presentation</dc:subject>
  <dc:creator>Genesis Ideathon</dc:creator>
  <lastModifiedBy>jv.kancherla@gmail.com</lastModifiedBy>
  <revision>1</revision>
  <dcterms:created xsi:type="dcterms:W3CDTF">2026-10-07T15:27:40.0000000Z</dcterms:created>
  <dcterms:modified xsi:type="dcterms:W3CDTF">2026-10-10T07:23:22.1420000Z</dcterms:modified>
</coreProperties>
</file>